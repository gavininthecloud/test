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MiniV6kT+VO/9eG9bwJ/qXsjL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1965f004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b1965f004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b1965f004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7145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76250" y="381000"/>
            <a:ext cx="835533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76250" y="681930"/>
            <a:ext cx="480917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CI/CD Migration Strategy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76250" y="2316956"/>
            <a:ext cx="4187381" cy="296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Jenkins to GitHub EMU Actions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76250" y="2879973"/>
            <a:ext cx="835533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Transitioning Detective Controls Infrastructure with OIDC Security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68118" y="3626644"/>
            <a:ext cx="829461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68118" y="4091434"/>
            <a:ext cx="82946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Cloud Providers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575197" y="3626644"/>
            <a:ext cx="9525" cy="6247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863548" y="3626644"/>
            <a:ext cx="70619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863548" y="4091434"/>
            <a:ext cx="70619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GKE Clusters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848570" y="3626644"/>
            <a:ext cx="9525" cy="6247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134378" y="3626644"/>
            <a:ext cx="96563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134378" y="4091434"/>
            <a:ext cx="9656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Long-lived Secrets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476250" y="304800"/>
            <a:ext cx="83553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76250" y="540990"/>
            <a:ext cx="418738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Migration Challenge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6250" y="1479649"/>
            <a:ext cx="3638550" cy="3068092"/>
          </a:xfrm>
          <a:prstGeom prst="roundRect">
            <a:avLst>
              <a:gd fmla="val 2484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2"/>
          <p:cNvCxnSpPr/>
          <p:nvPr/>
        </p:nvCxnSpPr>
        <p:spPr>
          <a:xfrm>
            <a:off x="495300" y="1479649"/>
            <a:ext cx="0" cy="3068092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2"/>
          <p:cNvSpPr/>
          <p:nvPr/>
        </p:nvSpPr>
        <p:spPr>
          <a:xfrm>
            <a:off x="704850" y="1670149"/>
            <a:ext cx="328383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04850" y="2045345"/>
            <a:ext cx="328383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Jenkins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04850" y="2638574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76300" y="2590056"/>
            <a:ext cx="1537781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Dedicated agents per cloud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04850" y="2926110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76300" y="2877592"/>
            <a:ext cx="134787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Physical isolation model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04850" y="3213646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76300" y="3165128"/>
            <a:ext cx="184624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IAM roles on EC2/VM/Cloud Run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04850" y="3501182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76300" y="3452664"/>
            <a:ext cx="154461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Decentralized management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04850" y="3778300"/>
            <a:ext cx="3219450" cy="578941"/>
          </a:xfrm>
          <a:prstGeom prst="roundRect">
            <a:avLst>
              <a:gd fmla="val 9871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28675" y="3902125"/>
            <a:ext cx="303123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DEPRECATED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28675" y="4086820"/>
            <a:ext cx="303123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 longer supported for new projects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474464" y="2853630"/>
            <a:ext cx="23317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067300" y="1489174"/>
            <a:ext cx="3600450" cy="3049042"/>
          </a:xfrm>
          <a:prstGeom prst="roundRect">
            <a:avLst>
              <a:gd fmla="val 2499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257800" y="1679674"/>
            <a:ext cx="328383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FUTURE STATE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257800" y="2054870"/>
            <a:ext cx="328383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EMU Actions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257800" y="2648099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429250" y="2599581"/>
            <a:ext cx="144639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Shared GKE runner pools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257800" y="2935635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29250" y="2887117"/>
            <a:ext cx="144624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Logical isolation via OIDC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257800" y="3223171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429250" y="3174653"/>
            <a:ext cx="138309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long-lived credentials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257800" y="3510707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429250" y="3462189"/>
            <a:ext cx="190256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Centralized DevOps management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257800" y="3787825"/>
            <a:ext cx="3219450" cy="559891"/>
          </a:xfrm>
          <a:prstGeom prst="roundRect">
            <a:avLst>
              <a:gd fmla="val 10207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372100" y="3902125"/>
            <a:ext cx="305066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STANDARD PLATFORM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372100" y="4086820"/>
            <a:ext cx="305066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Dynamic scaling with runner-scale-set-controller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476250" y="304800"/>
            <a:ext cx="83553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76250" y="540990"/>
            <a:ext cx="51006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GitHub EMU Runner Infrastructure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76250" y="1054894"/>
            <a:ext cx="8191500" cy="638026"/>
          </a:xfrm>
          <a:prstGeom prst="roundRect">
            <a:avLst>
              <a:gd fmla="val 11943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88645" y="1188244"/>
            <a:ext cx="796671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Enterprise Managed Users (EMU)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88645" y="1412974"/>
            <a:ext cx="796671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Centralized CI/CD Platform with Actions Workflows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94335" y="1807220"/>
            <a:ext cx="8355330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76250" y="2161431"/>
            <a:ext cx="8191500" cy="605582"/>
          </a:xfrm>
          <a:prstGeom prst="roundRect">
            <a:avLst>
              <a:gd fmla="val 12583" name="adj"/>
            </a:avLst>
          </a:prstGeom>
          <a:solidFill>
            <a:srgbClr val="F8F8F8"/>
          </a:solidFill>
          <a:ln cap="flat" cmpd="sng" w="1905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85800" y="2294781"/>
            <a:ext cx="225141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Runner Scale Set Controller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85800" y="2487067"/>
            <a:ext cx="225141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Dynamically provisions runner pods on demand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606903" y="2340322"/>
            <a:ext cx="851297" cy="247650"/>
          </a:xfrm>
          <a:prstGeom prst="roundRect">
            <a:avLst>
              <a:gd fmla="val 15385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721203" y="2397472"/>
            <a:ext cx="63515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AUTO-SCALE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94335" y="2881313"/>
            <a:ext cx="8355330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76250" y="3235523"/>
            <a:ext cx="4019550" cy="1030486"/>
          </a:xfrm>
          <a:prstGeom prst="roundRect">
            <a:avLst>
              <a:gd fmla="val 7395" name="adj"/>
            </a:avLst>
          </a:prstGeom>
          <a:solidFill>
            <a:srgbClr val="F8F8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81787" y="3378398"/>
            <a:ext cx="380847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GKE Cluster 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860203" y="3646884"/>
            <a:ext cx="379065" cy="2667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964978" y="3713559"/>
            <a:ext cx="17290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296418" y="3646884"/>
            <a:ext cx="379065" cy="2667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401193" y="3713559"/>
            <a:ext cx="17290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732633" y="3646884"/>
            <a:ext cx="379065" cy="2667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837408" y="3713559"/>
            <a:ext cx="17290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81787" y="3989784"/>
            <a:ext cx="380847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Managed by DevOps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648200" y="3235523"/>
            <a:ext cx="4019550" cy="1030486"/>
          </a:xfrm>
          <a:prstGeom prst="roundRect">
            <a:avLst>
              <a:gd fmla="val 7395" name="adj"/>
            </a:avLst>
          </a:prstGeom>
          <a:solidFill>
            <a:srgbClr val="F8F8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753737" y="3378398"/>
            <a:ext cx="380847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GKE Cluster 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032153" y="3646884"/>
            <a:ext cx="379065" cy="2667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136928" y="3713559"/>
            <a:ext cx="17290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468368" y="3646884"/>
            <a:ext cx="379065" cy="2667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573143" y="3713559"/>
            <a:ext cx="17290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904583" y="3646884"/>
            <a:ext cx="379065" cy="2667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7009358" y="3713559"/>
            <a:ext cx="17290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753737" y="3989784"/>
            <a:ext cx="380847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Managed by DevOps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76250" y="4380309"/>
            <a:ext cx="8191500" cy="554236"/>
          </a:xfrm>
          <a:prstGeom prst="roundRect">
            <a:avLst>
              <a:gd fmla="val 10311" name="adj"/>
            </a:avLst>
          </a:prstGeom>
          <a:solidFill>
            <a:srgbClr val="FFF5F5"/>
          </a:solidFill>
          <a:ln cap="flat" cmpd="sng" w="9525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01206" y="4485084"/>
            <a:ext cx="814158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Shared Node Pool - Physical Segregation Not Possible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01206" y="4683175"/>
            <a:ext cx="814158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Logical isolation achieved through OIDC token constraints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SECURITY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76250" y="502890"/>
            <a:ext cx="62470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OIDC: Logical Isolation on Shared Infrastructure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667000" y="992832"/>
            <a:ext cx="1714500" cy="573286"/>
          </a:xfrm>
          <a:prstGeom prst="roundRect">
            <a:avLst>
              <a:gd fmla="val 13292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766441" y="1107132"/>
            <a:ext cx="151561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TEAM 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766441" y="1278582"/>
            <a:ext cx="151561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repo: team-a/app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762500" y="992832"/>
            <a:ext cx="1714500" cy="573286"/>
          </a:xfrm>
          <a:prstGeom prst="roundRect">
            <a:avLst>
              <a:gd fmla="val 13292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861941" y="1107132"/>
            <a:ext cx="151561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TEAM 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861941" y="1278582"/>
            <a:ext cx="151561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repo: team-b/app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868489" y="1642318"/>
            <a:ext cx="1346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143500" y="1642318"/>
            <a:ext cx="1346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428750" y="1905149"/>
            <a:ext cx="6286500" cy="599926"/>
          </a:xfrm>
          <a:prstGeom prst="roundRect">
            <a:avLst>
              <a:gd fmla="val 12702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599057" y="2019449"/>
            <a:ext cx="594588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OIDC Provider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599057" y="2244179"/>
            <a:ext cx="594588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Issues JWT tokens with workflow-specific claims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571750" y="2581275"/>
            <a:ext cx="1905000" cy="699046"/>
          </a:xfrm>
          <a:prstGeom prst="roundRect">
            <a:avLst>
              <a:gd fmla="val 8175" name="adj"/>
            </a:avLst>
          </a:prstGeom>
          <a:solidFill>
            <a:srgbClr val="F8F8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676525" y="2686050"/>
            <a:ext cx="172935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Token A Claims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676525" y="2889796"/>
            <a:ext cx="172935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repo: team-a/app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676525" y="3042196"/>
            <a:ext cx="172935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env: production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667250" y="2581275"/>
            <a:ext cx="1905000" cy="699046"/>
          </a:xfrm>
          <a:prstGeom prst="roundRect">
            <a:avLst>
              <a:gd fmla="val 8175" name="adj"/>
            </a:avLst>
          </a:prstGeom>
          <a:solidFill>
            <a:srgbClr val="F8F8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772025" y="2686050"/>
            <a:ext cx="172935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Token B Claims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772025" y="2889796"/>
            <a:ext cx="172935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repo: team-b/app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772025" y="3042196"/>
            <a:ext cx="172935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env: staging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708797" y="3396555"/>
            <a:ext cx="1346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221807" y="3356521"/>
            <a:ext cx="16288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762500" y="3356521"/>
            <a:ext cx="16288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303193" y="3396555"/>
            <a:ext cx="1346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667000" y="3699421"/>
            <a:ext cx="1714500" cy="864691"/>
          </a:xfrm>
          <a:prstGeom prst="roundRect">
            <a:avLst>
              <a:gd fmla="val 8812" name="adj"/>
            </a:avLst>
          </a:prstGeom>
          <a:solidFill>
            <a:srgbClr val="F0FDF4"/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785872" y="3832771"/>
            <a:ext cx="147675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Team A Cloud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785872" y="4017466"/>
            <a:ext cx="147675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AWS / Azure / GCP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800350" y="4234607"/>
            <a:ext cx="1447800" cy="196155"/>
          </a:xfrm>
          <a:prstGeom prst="roundRect">
            <a:avLst>
              <a:gd fmla="val 19423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863596" y="4272707"/>
            <a:ext cx="1321308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Trust: repo=team-a/*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762500" y="3699421"/>
            <a:ext cx="1714500" cy="864691"/>
          </a:xfrm>
          <a:prstGeom prst="roundRect">
            <a:avLst>
              <a:gd fmla="val 8812" name="adj"/>
            </a:avLst>
          </a:prstGeom>
          <a:solidFill>
            <a:srgbClr val="F0FDF4"/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881372" y="3832771"/>
            <a:ext cx="147675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Team B Cloud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881372" y="4017466"/>
            <a:ext cx="147675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AWS / Azure / GCP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895850" y="4234607"/>
            <a:ext cx="1447800" cy="196155"/>
          </a:xfrm>
          <a:prstGeom prst="roundRect">
            <a:avLst>
              <a:gd fmla="val 19423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959096" y="4272707"/>
            <a:ext cx="1321308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Trust: repo=team-b/*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94335" y="4730204"/>
            <a:ext cx="835533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Team A workflow cannot access Team B resources - token claims are cryptographically verified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476250" y="304800"/>
            <a:ext cx="83553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SECURITY DETAILS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76250" y="540990"/>
            <a:ext cx="418738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OIDC Token Constraints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76250" y="1200596"/>
            <a:ext cx="403193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Available claims for access control: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76250" y="1512987"/>
            <a:ext cx="3952875" cy="58653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>
            <a:off x="495300" y="1512987"/>
            <a:ext cx="0" cy="586532"/>
          </a:xfrm>
          <a:prstGeom prst="straightConnector1">
            <a:avLst/>
          </a:prstGeom>
          <a:noFill/>
          <a:ln cap="flat" cmpd="sng" w="3810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5"/>
          <p:cNvSpPr/>
          <p:nvPr/>
        </p:nvSpPr>
        <p:spPr>
          <a:xfrm>
            <a:off x="666750" y="1627287"/>
            <a:ext cx="368217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66750" y="1838623"/>
            <a:ext cx="368217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Full repository name (org/repo)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76250" y="2194768"/>
            <a:ext cx="3952875" cy="58653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495300" y="2194768"/>
            <a:ext cx="0" cy="586532"/>
          </a:xfrm>
          <a:prstGeom prst="straightConnector1">
            <a:avLst/>
          </a:prstGeom>
          <a:noFill/>
          <a:ln cap="flat" cmpd="sng" w="3810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5"/>
          <p:cNvSpPr/>
          <p:nvPr/>
        </p:nvSpPr>
        <p:spPr>
          <a:xfrm>
            <a:off x="666750" y="2309068"/>
            <a:ext cx="368217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66750" y="2520404"/>
            <a:ext cx="368217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Workflow file name (e.g., orphanator.yml)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76250" y="2876550"/>
            <a:ext cx="3952875" cy="58653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>
            <a:off x="495300" y="2876550"/>
            <a:ext cx="0" cy="586532"/>
          </a:xfrm>
          <a:prstGeom prst="straightConnector1">
            <a:avLst/>
          </a:prstGeom>
          <a:noFill/>
          <a:ln cap="flat" cmpd="sng" w="3810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5"/>
          <p:cNvSpPr/>
          <p:nvPr/>
        </p:nvSpPr>
        <p:spPr>
          <a:xfrm>
            <a:off x="666750" y="2990850"/>
            <a:ext cx="368217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66750" y="3202186"/>
            <a:ext cx="368217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GitHub environment (production, staging)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76250" y="3558332"/>
            <a:ext cx="3952875" cy="58653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495300" y="3558332"/>
            <a:ext cx="0" cy="586532"/>
          </a:xfrm>
          <a:prstGeom prst="straightConnector1">
            <a:avLst/>
          </a:prstGeom>
          <a:noFill/>
          <a:ln cap="flat" cmpd="sng" w="3810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5"/>
          <p:cNvSpPr/>
          <p:nvPr/>
        </p:nvSpPr>
        <p:spPr>
          <a:xfrm>
            <a:off x="666750" y="3672632"/>
            <a:ext cx="368217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66750" y="3883968"/>
            <a:ext cx="368217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Git ref (refs/heads/main)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76250" y="4240113"/>
            <a:ext cx="3952875" cy="58653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5"/>
          <p:cNvCxnSpPr/>
          <p:nvPr/>
        </p:nvCxnSpPr>
        <p:spPr>
          <a:xfrm>
            <a:off x="495300" y="4240113"/>
            <a:ext cx="0" cy="586532"/>
          </a:xfrm>
          <a:prstGeom prst="straightConnector1">
            <a:avLst/>
          </a:prstGeom>
          <a:noFill/>
          <a:ln cap="flat" cmpd="sng" w="3810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5"/>
          <p:cNvSpPr/>
          <p:nvPr/>
        </p:nvSpPr>
        <p:spPr>
          <a:xfrm>
            <a:off x="666750" y="4354413"/>
            <a:ext cx="368217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actor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66750" y="4565749"/>
            <a:ext cx="368217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 who triggered the workflow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714875" y="1720453"/>
            <a:ext cx="3952875" cy="1580852"/>
          </a:xfrm>
          <a:prstGeom prst="roundRect">
            <a:avLst>
              <a:gd fmla="val 482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867275" y="1872853"/>
            <a:ext cx="37210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Guarantees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867275" y="2173784"/>
            <a:ext cx="11400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055245" y="2187029"/>
            <a:ext cx="182742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Cryptographically signed by GitHub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867275" y="2436614"/>
            <a:ext cx="11400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055245" y="2449860"/>
            <a:ext cx="151015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Cannot be forged or modified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867275" y="2699445"/>
            <a:ext cx="11400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055245" y="2712690"/>
            <a:ext cx="145140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Short-lived tokens (minutes)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867275" y="2962275"/>
            <a:ext cx="11400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055245" y="2975521"/>
            <a:ext cx="157482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Unique token per workflow 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714875" y="3415605"/>
            <a:ext cx="3952875" cy="891332"/>
          </a:xfrm>
          <a:prstGeom prst="roundRect">
            <a:avLst>
              <a:gd fmla="val 8549" name="adj"/>
            </a:avLst>
          </a:prstGeom>
          <a:solidFill>
            <a:srgbClr val="F8F8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876800" y="3577530"/>
            <a:ext cx="370160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Cloud Provider Support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876800" y="3826966"/>
            <a:ext cx="715417" cy="318046"/>
          </a:xfrm>
          <a:prstGeom prst="roundRect">
            <a:avLst>
              <a:gd fmla="val 11979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000625" y="3912691"/>
            <a:ext cx="47712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AWS STS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5706517" y="3826966"/>
            <a:ext cx="812453" cy="318046"/>
          </a:xfrm>
          <a:prstGeom prst="roundRect">
            <a:avLst>
              <a:gd fmla="val 11979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830342" y="3912691"/>
            <a:ext cx="57609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Azure OIDC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633270" y="3826966"/>
            <a:ext cx="693986" cy="318046"/>
          </a:xfrm>
          <a:prstGeom prst="roundRect">
            <a:avLst>
              <a:gd fmla="val 11979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757095" y="3912691"/>
            <a:ext cx="45526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GCP WIF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/>
          <p:nvPr/>
        </p:nvSpPr>
        <p:spPr>
          <a:xfrm>
            <a:off x="476250" y="304800"/>
            <a:ext cx="83553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76250" y="540990"/>
            <a:ext cx="41873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76250" y="2031057"/>
            <a:ext cx="304800" cy="304800"/>
          </a:xfrm>
          <a:prstGeom prst="roundRect">
            <a:avLst>
              <a:gd fmla="val 3000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91443" y="2090142"/>
            <a:ext cx="757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895350" y="2031057"/>
            <a:ext cx="444575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Shared Infrastructure, Isolated Access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95350" y="2242393"/>
            <a:ext cx="444575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OIDC ensures each team can only access their authorized cloud resources.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76250" y="2484239"/>
            <a:ext cx="304800" cy="304800"/>
          </a:xfrm>
          <a:prstGeom prst="roundRect">
            <a:avLst>
              <a:gd fmla="val 3000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91443" y="2543324"/>
            <a:ext cx="757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895350" y="2484239"/>
            <a:ext cx="444575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Zero Long-Lived Credentials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895350" y="2695575"/>
            <a:ext cx="444575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Short-lived OIDC tokens replace static secrets. No credentials to manage.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76250" y="2937421"/>
            <a:ext cx="304800" cy="304800"/>
          </a:xfrm>
          <a:prstGeom prst="roundRect">
            <a:avLst>
              <a:gd fmla="val 3000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91443" y="2996505"/>
            <a:ext cx="757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95350" y="2937421"/>
            <a:ext cx="444575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Fine-Grained Access Control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895350" y="3148757"/>
            <a:ext cx="444575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Combine claims for precise, multi-dimensional security policies.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76250" y="3390602"/>
            <a:ext cx="304800" cy="304800"/>
          </a:xfrm>
          <a:prstGeom prst="roundRect">
            <a:avLst>
              <a:gd fmla="val 3000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91443" y="3449687"/>
            <a:ext cx="757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895350" y="3390602"/>
            <a:ext cx="444575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Centralized Operations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895350" y="3601938"/>
            <a:ext cx="444575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DevOps manages infrastructure; security enforced at identity layer.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5482530" y="1205954"/>
            <a:ext cx="3185220" cy="1563886"/>
          </a:xfrm>
          <a:prstGeom prst="roundRect">
            <a:avLst>
              <a:gd fmla="val 4872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606126" y="1358354"/>
            <a:ext cx="2938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SECURITY MODEL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606126" y="1567904"/>
            <a:ext cx="2938028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OIDC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606126" y="2070795"/>
            <a:ext cx="2938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OpenID Connect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634930" y="2331690"/>
            <a:ext cx="2880420" cy="285750"/>
          </a:xfrm>
          <a:prstGeom prst="roundRect">
            <a:avLst>
              <a:gd fmla="val 20000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683850" y="2407890"/>
            <a:ext cx="278258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Identity-based security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482530" y="2884140"/>
            <a:ext cx="3185220" cy="1689646"/>
          </a:xfrm>
          <a:prstGeom prst="roundRect">
            <a:avLst>
              <a:gd fmla="val 4510" name="adj"/>
            </a:avLst>
          </a:prstGeom>
          <a:solidFill>
            <a:srgbClr val="F8F8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625405" y="3027015"/>
            <a:ext cx="295745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625405" y="3249811"/>
            <a:ext cx="289947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Improved security posture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Dynamic auto-scaling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Reduced operational overhead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Standardized platform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1965f004c_0_0"/>
          <p:cNvSpPr/>
          <p:nvPr/>
        </p:nvSpPr>
        <p:spPr>
          <a:xfrm>
            <a:off x="266700" y="266700"/>
            <a:ext cx="628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50"/>
              <a:buFont typeface="Arial"/>
              <a:buNone/>
            </a:pPr>
            <a:r>
              <a:rPr b="1" lang="en-US" sz="2400">
                <a:solidFill>
                  <a:srgbClr val="1A1A1A"/>
                </a:solidFill>
              </a:rPr>
              <a:t>OIDC Token Claims: The Security Foundation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b1965f004c_0_0"/>
          <p:cNvSpPr/>
          <p:nvPr/>
        </p:nvSpPr>
        <p:spPr>
          <a:xfrm>
            <a:off x="266700" y="685800"/>
            <a:ext cx="762000" cy="28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b1965f004c_0_0"/>
          <p:cNvSpPr/>
          <p:nvPr/>
        </p:nvSpPr>
        <p:spPr>
          <a:xfrm>
            <a:off x="266700" y="1384102"/>
            <a:ext cx="49299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Key claims used for access control decisions: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b1965f004c_0_0"/>
          <p:cNvSpPr/>
          <p:nvPr/>
        </p:nvSpPr>
        <p:spPr>
          <a:xfrm>
            <a:off x="266700" y="1587847"/>
            <a:ext cx="4833300" cy="2542800"/>
          </a:xfrm>
          <a:prstGeom prst="roundRect">
            <a:avLst>
              <a:gd fmla="val 299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b1965f004c_0_0"/>
          <p:cNvSpPr/>
          <p:nvPr/>
        </p:nvSpPr>
        <p:spPr>
          <a:xfrm>
            <a:off x="361950" y="1683097"/>
            <a:ext cx="4642800" cy="424800"/>
          </a:xfrm>
          <a:prstGeom prst="roundRect">
            <a:avLst>
              <a:gd fmla="val 1345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g3b1965f004c_0_0"/>
          <p:cNvCxnSpPr/>
          <p:nvPr/>
        </p:nvCxnSpPr>
        <p:spPr>
          <a:xfrm>
            <a:off x="376238" y="1683097"/>
            <a:ext cx="0" cy="424800"/>
          </a:xfrm>
          <a:prstGeom prst="straightConnector1">
            <a:avLst/>
          </a:prstGeom>
          <a:noFill/>
          <a:ln cap="flat" cmpd="sng" w="285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g3b1965f004c_0_0"/>
          <p:cNvSpPr/>
          <p:nvPr/>
        </p:nvSpPr>
        <p:spPr>
          <a:xfrm>
            <a:off x="466725" y="1828800"/>
            <a:ext cx="680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b1965f004c_0_0"/>
          <p:cNvSpPr/>
          <p:nvPr/>
        </p:nvSpPr>
        <p:spPr>
          <a:xfrm>
            <a:off x="1228725" y="1759297"/>
            <a:ext cx="1379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Full repo name (org/repo)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b1965f004c_0_0"/>
          <p:cNvSpPr/>
          <p:nvPr/>
        </p:nvSpPr>
        <p:spPr>
          <a:xfrm>
            <a:off x="1228725" y="1911697"/>
            <a:ext cx="1379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e.g., "acme-corp/detective-controls"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b1965f004c_0_0"/>
          <p:cNvSpPr/>
          <p:nvPr/>
        </p:nvSpPr>
        <p:spPr>
          <a:xfrm>
            <a:off x="361950" y="2165003"/>
            <a:ext cx="4642800" cy="424800"/>
          </a:xfrm>
          <a:prstGeom prst="roundRect">
            <a:avLst>
              <a:gd fmla="val 1345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g3b1965f004c_0_0"/>
          <p:cNvCxnSpPr/>
          <p:nvPr/>
        </p:nvCxnSpPr>
        <p:spPr>
          <a:xfrm>
            <a:off x="376238" y="2165003"/>
            <a:ext cx="0" cy="424800"/>
          </a:xfrm>
          <a:prstGeom prst="straightConnector1">
            <a:avLst/>
          </a:prstGeom>
          <a:noFill/>
          <a:ln cap="flat" cmpd="sng" w="2857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g3b1965f004c_0_0"/>
          <p:cNvSpPr/>
          <p:nvPr/>
        </p:nvSpPr>
        <p:spPr>
          <a:xfrm>
            <a:off x="466725" y="2310705"/>
            <a:ext cx="680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b1965f004c_0_0"/>
          <p:cNvSpPr/>
          <p:nvPr/>
        </p:nvSpPr>
        <p:spPr>
          <a:xfrm>
            <a:off x="1228725" y="2241203"/>
            <a:ext cx="83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Workflow file name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b1965f004c_0_0"/>
          <p:cNvSpPr/>
          <p:nvPr/>
        </p:nvSpPr>
        <p:spPr>
          <a:xfrm>
            <a:off x="1228725" y="2393603"/>
            <a:ext cx="8349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e.g., "orphanator.yml"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b1965f004c_0_0"/>
          <p:cNvSpPr/>
          <p:nvPr/>
        </p:nvSpPr>
        <p:spPr>
          <a:xfrm>
            <a:off x="361950" y="2646908"/>
            <a:ext cx="4642800" cy="424800"/>
          </a:xfrm>
          <a:prstGeom prst="roundRect">
            <a:avLst>
              <a:gd fmla="val 1345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g3b1965f004c_0_0"/>
          <p:cNvCxnSpPr/>
          <p:nvPr/>
        </p:nvCxnSpPr>
        <p:spPr>
          <a:xfrm>
            <a:off x="376238" y="2646908"/>
            <a:ext cx="0" cy="424800"/>
          </a:xfrm>
          <a:prstGeom prst="straightConnector1">
            <a:avLst/>
          </a:prstGeom>
          <a:noFill/>
          <a:ln cap="flat" cmpd="sng" w="2857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g3b1965f004c_0_0"/>
          <p:cNvSpPr/>
          <p:nvPr/>
        </p:nvSpPr>
        <p:spPr>
          <a:xfrm>
            <a:off x="466725" y="2792611"/>
            <a:ext cx="680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b1965f004c_0_0"/>
          <p:cNvSpPr/>
          <p:nvPr/>
        </p:nvSpPr>
        <p:spPr>
          <a:xfrm>
            <a:off x="1228725" y="2723108"/>
            <a:ext cx="1134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GitHub environment name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b1965f004c_0_0"/>
          <p:cNvSpPr/>
          <p:nvPr/>
        </p:nvSpPr>
        <p:spPr>
          <a:xfrm>
            <a:off x="1228725" y="2875508"/>
            <a:ext cx="11340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e.g., "production", "staging"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b1965f004c_0_0"/>
          <p:cNvSpPr/>
          <p:nvPr/>
        </p:nvSpPr>
        <p:spPr>
          <a:xfrm>
            <a:off x="361950" y="3128814"/>
            <a:ext cx="4642800" cy="424800"/>
          </a:xfrm>
          <a:prstGeom prst="roundRect">
            <a:avLst>
              <a:gd fmla="val 1345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g3b1965f004c_0_0"/>
          <p:cNvCxnSpPr/>
          <p:nvPr/>
        </p:nvCxnSpPr>
        <p:spPr>
          <a:xfrm>
            <a:off x="376238" y="3128814"/>
            <a:ext cx="0" cy="424800"/>
          </a:xfrm>
          <a:prstGeom prst="straightConnector1">
            <a:avLst/>
          </a:prstGeom>
          <a:noFill/>
          <a:ln cap="flat" cmpd="sng" w="2857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g3b1965f004c_0_0"/>
          <p:cNvSpPr/>
          <p:nvPr/>
        </p:nvSpPr>
        <p:spPr>
          <a:xfrm>
            <a:off x="466725" y="3274516"/>
            <a:ext cx="680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b1965f004c_0_0"/>
          <p:cNvSpPr/>
          <p:nvPr/>
        </p:nvSpPr>
        <p:spPr>
          <a:xfrm>
            <a:off x="1228725" y="3205014"/>
            <a:ext cx="1031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Git ref that triggered run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b1965f004c_0_0"/>
          <p:cNvSpPr/>
          <p:nvPr/>
        </p:nvSpPr>
        <p:spPr>
          <a:xfrm>
            <a:off x="1228725" y="3357414"/>
            <a:ext cx="10314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e.g., "refs/heads/main"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b1965f004c_0_0"/>
          <p:cNvSpPr/>
          <p:nvPr/>
        </p:nvSpPr>
        <p:spPr>
          <a:xfrm>
            <a:off x="361950" y="3610719"/>
            <a:ext cx="4642800" cy="424800"/>
          </a:xfrm>
          <a:prstGeom prst="roundRect">
            <a:avLst>
              <a:gd fmla="val 1345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g3b1965f004c_0_0"/>
          <p:cNvCxnSpPr/>
          <p:nvPr/>
        </p:nvCxnSpPr>
        <p:spPr>
          <a:xfrm>
            <a:off x="376238" y="3610719"/>
            <a:ext cx="0" cy="424800"/>
          </a:xfrm>
          <a:prstGeom prst="straightConnector1">
            <a:avLst/>
          </a:prstGeom>
          <a:noFill/>
          <a:ln cap="flat" cmpd="sng" w="2857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g3b1965f004c_0_0"/>
          <p:cNvSpPr/>
          <p:nvPr/>
        </p:nvSpPr>
        <p:spPr>
          <a:xfrm>
            <a:off x="466725" y="3756422"/>
            <a:ext cx="680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actor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b1965f004c_0_0"/>
          <p:cNvSpPr/>
          <p:nvPr/>
        </p:nvSpPr>
        <p:spPr>
          <a:xfrm>
            <a:off x="1228725" y="3686919"/>
            <a:ext cx="1225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User who triggered workflow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b1965f004c_0_0"/>
          <p:cNvSpPr/>
          <p:nvPr/>
        </p:nvSpPr>
        <p:spPr>
          <a:xfrm>
            <a:off x="1228725" y="3839319"/>
            <a:ext cx="12258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e.g., "johndoe"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b1965f004c_0_0"/>
          <p:cNvSpPr/>
          <p:nvPr/>
        </p:nvSpPr>
        <p:spPr>
          <a:xfrm>
            <a:off x="5252293" y="888950"/>
            <a:ext cx="3624900" cy="1228200"/>
          </a:xfrm>
          <a:prstGeom prst="roundRect">
            <a:avLst>
              <a:gd fmla="val 6204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b1965f004c_0_0"/>
          <p:cNvSpPr/>
          <p:nvPr/>
        </p:nvSpPr>
        <p:spPr>
          <a:xfrm>
            <a:off x="5366593" y="1003250"/>
            <a:ext cx="34644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Cloud IAM Trust Policy Example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b1965f004c_0_0"/>
          <p:cNvSpPr/>
          <p:nvPr/>
        </p:nvSpPr>
        <p:spPr>
          <a:xfrm>
            <a:off x="5366593" y="1226046"/>
            <a:ext cx="3396300" cy="777000"/>
          </a:xfrm>
          <a:prstGeom prst="roundRect">
            <a:avLst>
              <a:gd fmla="val 735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b1965f004c_0_0"/>
          <p:cNvSpPr/>
          <p:nvPr/>
        </p:nvSpPr>
        <p:spPr>
          <a:xfrm>
            <a:off x="5442793" y="1302246"/>
            <a:ext cx="33090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// AWS IAM role trust policy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b1965f004c_0_0"/>
          <p:cNvSpPr/>
          <p:nvPr/>
        </p:nvSpPr>
        <p:spPr>
          <a:xfrm>
            <a:off x="5442793" y="1446907"/>
            <a:ext cx="33090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"Condition":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b1965f004c_0_0"/>
          <p:cNvSpPr/>
          <p:nvPr/>
        </p:nvSpPr>
        <p:spPr>
          <a:xfrm>
            <a:off x="5518993" y="1566863"/>
            <a:ext cx="32313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"StringEquals":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b1965f004c_0_0"/>
          <p:cNvSpPr/>
          <p:nvPr/>
        </p:nvSpPr>
        <p:spPr>
          <a:xfrm>
            <a:off x="5595193" y="1686818"/>
            <a:ext cx="31533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"token.actions...com:sub":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b1965f004c_0_0"/>
          <p:cNvSpPr/>
          <p:nvPr/>
        </p:nvSpPr>
        <p:spPr>
          <a:xfrm>
            <a:off x="5671393" y="1806773"/>
            <a:ext cx="30756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"repo:acme-corp/*:*"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a6f925ef.png" id="265" name="Google Shape;265;g3b1965f004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2293" y="2193429"/>
            <a:ext cx="3625007" cy="189919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b1965f004c_0_0"/>
          <p:cNvSpPr/>
          <p:nvPr/>
        </p:nvSpPr>
        <p:spPr>
          <a:xfrm>
            <a:off x="5376118" y="2317254"/>
            <a:ext cx="34449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Security Guarantees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b1965f004c_0_0"/>
          <p:cNvSpPr/>
          <p:nvPr/>
        </p:nvSpPr>
        <p:spPr>
          <a:xfrm>
            <a:off x="5376118" y="2521000"/>
            <a:ext cx="33774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CFCE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DCFCE7"/>
                </a:solidFill>
                <a:latin typeface="Arial"/>
                <a:ea typeface="Arial"/>
                <a:cs typeface="Arial"/>
                <a:sym typeface="Arial"/>
              </a:rPr>
              <a:t>Claims are cryptographically signed by GitHub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CFCE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DCFCE7"/>
                </a:solidFill>
                <a:latin typeface="Arial"/>
                <a:ea typeface="Arial"/>
                <a:cs typeface="Arial"/>
                <a:sym typeface="Arial"/>
              </a:rPr>
              <a:t>Cannot be forged or tampered with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CFCE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DCFCE7"/>
                </a:solidFill>
                <a:latin typeface="Arial"/>
                <a:ea typeface="Arial"/>
                <a:cs typeface="Arial"/>
                <a:sym typeface="Arial"/>
              </a:rPr>
              <a:t>Tokens expire in minutes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CFCE7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DCFCE7"/>
                </a:solidFill>
                <a:latin typeface="Arial"/>
                <a:ea typeface="Arial"/>
                <a:cs typeface="Arial"/>
                <a:sym typeface="Arial"/>
              </a:rPr>
              <a:t>Each run gets unique token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b1965f004c_0_0"/>
          <p:cNvSpPr/>
          <p:nvPr/>
        </p:nvSpPr>
        <p:spPr>
          <a:xfrm>
            <a:off x="5252293" y="4168825"/>
            <a:ext cx="3624900" cy="457200"/>
          </a:xfrm>
          <a:prstGeom prst="roundRect">
            <a:avLst>
              <a:gd fmla="val 125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b1965f004c_0_0"/>
          <p:cNvSpPr/>
          <p:nvPr/>
        </p:nvSpPr>
        <p:spPr>
          <a:xfrm>
            <a:off x="5347543" y="4264075"/>
            <a:ext cx="350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Combine claims for fine-grained access: repo + environment + ref for production-only main branch access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b1965f004c_0_0"/>
          <p:cNvSpPr/>
          <p:nvPr/>
        </p:nvSpPr>
        <p:spPr>
          <a:xfrm>
            <a:off x="266700" y="4743450"/>
            <a:ext cx="8782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Each claim provides an additional dimension for access control - use multiple claims for defense in depth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ALTERNATIVE APPROACH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76250" y="502890"/>
            <a:ext cx="585844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Hybrid: GitHub Runners as Jump Box to Jenkins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76250" y="1151781"/>
            <a:ext cx="8191500" cy="363736"/>
          </a:xfrm>
          <a:prstGeom prst="roundRect">
            <a:avLst>
              <a:gd fmla="val 15712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549783" y="1247031"/>
            <a:ext cx="804443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EMU - Actions Workflow Triggered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394335" y="1591717"/>
            <a:ext cx="835533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476250" y="1854547"/>
            <a:ext cx="8191500" cy="560040"/>
          </a:xfrm>
          <a:prstGeom prst="roundRect">
            <a:avLst>
              <a:gd fmla="val 10205" name="adj"/>
            </a:avLst>
          </a:prstGeom>
          <a:solidFill>
            <a:srgbClr val="FFF5F5"/>
          </a:solidFill>
          <a:ln cap="flat" cmpd="sng" w="1905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69214" y="1968847"/>
            <a:ext cx="800557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GitHub Runner (Shared GKE Pool)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69214" y="2166938"/>
            <a:ext cx="800557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Acts as JUMP BOX - connects to Jenkins agents via SSH/API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2870150" y="2490788"/>
            <a:ext cx="11400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4505920" y="2490788"/>
            <a:ext cx="13465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161931" y="2490788"/>
            <a:ext cx="11400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476250" y="2753618"/>
            <a:ext cx="2654350" cy="799951"/>
          </a:xfrm>
          <a:prstGeom prst="roundRect">
            <a:avLst>
              <a:gd fmla="val 7144" name="adj"/>
            </a:avLst>
          </a:prstGeom>
          <a:solidFill>
            <a:srgbClr val="F8F8F8"/>
          </a:solidFill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66293" y="2867918"/>
            <a:ext cx="247426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AWS EC2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566293" y="3052614"/>
            <a:ext cx="247426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Jenkins Agent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590550" y="3243114"/>
            <a:ext cx="2425750" cy="196155"/>
          </a:xfrm>
          <a:prstGeom prst="roundRect">
            <a:avLst>
              <a:gd fmla="val 19423" name="adj"/>
            </a:avLst>
          </a:prstGeom>
          <a:solidFill>
            <a:srgbClr val="FFF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05155" y="3281214"/>
            <a:ext cx="2396541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IAM Role Attached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3244900" y="2753618"/>
            <a:ext cx="2654350" cy="799951"/>
          </a:xfrm>
          <a:prstGeom prst="roundRect">
            <a:avLst>
              <a:gd fmla="val 7144" name="adj"/>
            </a:avLst>
          </a:prstGeom>
          <a:solidFill>
            <a:srgbClr val="F8F8F8"/>
          </a:solidFill>
          <a:ln cap="flat" cmpd="sng" w="1905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3334942" y="2867918"/>
            <a:ext cx="247426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Azure VM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3334942" y="3052614"/>
            <a:ext cx="247426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Jenkins Agent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3359200" y="3243114"/>
            <a:ext cx="2425750" cy="196155"/>
          </a:xfrm>
          <a:prstGeom prst="roundRect">
            <a:avLst>
              <a:gd fmla="val 19423" name="adj"/>
            </a:avLst>
          </a:prstGeom>
          <a:solidFill>
            <a:srgbClr val="E6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3373804" y="3281214"/>
            <a:ext cx="2396541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Managed Identity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6013549" y="2753618"/>
            <a:ext cx="2654350" cy="799951"/>
          </a:xfrm>
          <a:prstGeom prst="roundRect">
            <a:avLst>
              <a:gd fmla="val 7144" name="adj"/>
            </a:avLst>
          </a:prstGeom>
          <a:solidFill>
            <a:srgbClr val="F8F8F8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6103592" y="2867918"/>
            <a:ext cx="247426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GCP Cloud Run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103592" y="3052614"/>
            <a:ext cx="247426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Jenkins Agent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6127849" y="3243114"/>
            <a:ext cx="2425750" cy="196155"/>
          </a:xfrm>
          <a:prstGeom prst="roundRect">
            <a:avLst>
              <a:gd fmla="val 19423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142454" y="3281214"/>
            <a:ext cx="2396541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Service Account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2497038" y="3629769"/>
            <a:ext cx="11552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4515296" y="3629769"/>
            <a:ext cx="11552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6533555" y="3629769"/>
            <a:ext cx="11552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476250" y="3865959"/>
            <a:ext cx="2654350" cy="424755"/>
          </a:xfrm>
          <a:prstGeom prst="roundRect">
            <a:avLst>
              <a:gd fmla="val 13455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527431" y="3942159"/>
            <a:ext cx="255198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 Resources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527431" y="4094559"/>
            <a:ext cx="255198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Detective Controls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3244900" y="3865959"/>
            <a:ext cx="2654350" cy="424755"/>
          </a:xfrm>
          <a:prstGeom prst="roundRect">
            <a:avLst>
              <a:gd fmla="val 13455" name="adj"/>
            </a:avLst>
          </a:prstGeom>
          <a:solidFill>
            <a:srgbClr val="0078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3296080" y="3942159"/>
            <a:ext cx="255198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Azure Resources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3296080" y="4094559"/>
            <a:ext cx="255198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Detective Controls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6013549" y="3865959"/>
            <a:ext cx="2654350" cy="424755"/>
          </a:xfrm>
          <a:prstGeom prst="roundRect">
            <a:avLst>
              <a:gd fmla="val 13455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6064730" y="3942159"/>
            <a:ext cx="255198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GCP Resources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6064730" y="4094559"/>
            <a:ext cx="255198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Detective Controls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476250" y="4405015"/>
            <a:ext cx="8191500" cy="337096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7"/>
          <p:cNvCxnSpPr/>
          <p:nvPr/>
        </p:nvCxnSpPr>
        <p:spPr>
          <a:xfrm>
            <a:off x="495300" y="4405015"/>
            <a:ext cx="0" cy="337096"/>
          </a:xfrm>
          <a:prstGeom prst="straightConnector1">
            <a:avLst/>
          </a:prstGeom>
          <a:noFill/>
          <a:ln cap="flat" cmpd="sng" w="3810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7"/>
          <p:cNvSpPr/>
          <p:nvPr/>
        </p:nvSpPr>
        <p:spPr>
          <a:xfrm>
            <a:off x="647700" y="4500265"/>
            <a:ext cx="804443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Key: Physical isolation preserved - each cloud has dedicated Jenkins agent with native IAM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76250" y="502890"/>
            <a:ext cx="555726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Approach Comparison: Architecture Overview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76250" y="1341239"/>
            <a:ext cx="4000500" cy="3097113"/>
          </a:xfrm>
          <a:prstGeom prst="roundRect">
            <a:avLst>
              <a:gd fmla="val 2460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8"/>
          <p:cNvCxnSpPr/>
          <p:nvPr/>
        </p:nvCxnSpPr>
        <p:spPr>
          <a:xfrm>
            <a:off x="476250" y="1360289"/>
            <a:ext cx="4000500" cy="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8"/>
          <p:cNvSpPr/>
          <p:nvPr/>
        </p:nvSpPr>
        <p:spPr>
          <a:xfrm>
            <a:off x="609600" y="1512689"/>
            <a:ext cx="380847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 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609600" y="1855589"/>
            <a:ext cx="380847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Hybrid: GitHub + Jenkins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609600" y="2308920"/>
            <a:ext cx="3733800" cy="234255"/>
          </a:xfrm>
          <a:prstGeom prst="roundRect">
            <a:avLst>
              <a:gd fmla="val 16264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630555" y="2366070"/>
            <a:ext cx="369189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Workflow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572262" y="2581275"/>
            <a:ext cx="380847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609600" y="2752725"/>
            <a:ext cx="3733800" cy="253305"/>
          </a:xfrm>
          <a:prstGeom prst="roundRect">
            <a:avLst>
              <a:gd fmla="val 15041" name="adj"/>
            </a:avLst>
          </a:prstGeom>
          <a:solidFill>
            <a:srgbClr val="FFF5F5"/>
          </a:solidFill>
          <a:ln cap="flat" cmpd="sng" w="9525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640271" y="2819400"/>
            <a:ext cx="367245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GKE Runner (Jump Box)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72262" y="3044130"/>
            <a:ext cx="380847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609600" y="3215580"/>
            <a:ext cx="1219200" cy="182761"/>
          </a:xfrm>
          <a:prstGeom prst="roundRect">
            <a:avLst>
              <a:gd fmla="val 20847" name="adj"/>
            </a:avLst>
          </a:prstGeom>
          <a:solidFill>
            <a:srgbClr val="FFF5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636270" y="3253680"/>
            <a:ext cx="1165860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1866900" y="3215580"/>
            <a:ext cx="1219200" cy="182761"/>
          </a:xfrm>
          <a:prstGeom prst="roundRect">
            <a:avLst>
              <a:gd fmla="val 20847" name="adj"/>
            </a:avLst>
          </a:prstGeom>
          <a:solidFill>
            <a:srgbClr val="E6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1893570" y="3253680"/>
            <a:ext cx="1165860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3124200" y="3215580"/>
            <a:ext cx="1219200" cy="182761"/>
          </a:xfrm>
          <a:prstGeom prst="roundRect">
            <a:avLst>
              <a:gd fmla="val 2084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3150870" y="3253680"/>
            <a:ext cx="1165860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GCP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609600" y="3665041"/>
            <a:ext cx="3733800" cy="639961"/>
          </a:xfrm>
          <a:prstGeom prst="roundRect">
            <a:avLst>
              <a:gd fmla="val 8930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714375" y="3769816"/>
            <a:ext cx="359473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714375" y="3960316"/>
            <a:ext cx="3594735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GitHub runner connects via SSH/API to dedicated Jenkins agents in each cloud. Jobs execute on Jenkins agents with cloud-native IAM.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4667250" y="1379339"/>
            <a:ext cx="4000500" cy="3020913"/>
          </a:xfrm>
          <a:prstGeom prst="roundRect">
            <a:avLst>
              <a:gd fmla="val 2522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4800600" y="1512689"/>
            <a:ext cx="380847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OPTION 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800600" y="1855589"/>
            <a:ext cx="380847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Pure GitHub EMU + OIDC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800600" y="2308920"/>
            <a:ext cx="3733800" cy="234255"/>
          </a:xfrm>
          <a:prstGeom prst="roundRect">
            <a:avLst>
              <a:gd fmla="val 16264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4821555" y="2366070"/>
            <a:ext cx="369189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Workflow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4763262" y="2581275"/>
            <a:ext cx="380847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800600" y="2752725"/>
            <a:ext cx="3733800" cy="234255"/>
          </a:xfrm>
          <a:prstGeom prst="roundRect">
            <a:avLst>
              <a:gd fmla="val 16264" name="adj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4821555" y="2809875"/>
            <a:ext cx="3691890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GKE Runner + OIDC Token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4763262" y="3025080"/>
            <a:ext cx="380847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4800600" y="3196530"/>
            <a:ext cx="1219200" cy="182761"/>
          </a:xfrm>
          <a:prstGeom prst="roundRect">
            <a:avLst>
              <a:gd fmla="val 20847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4827270" y="3234630"/>
            <a:ext cx="1165860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6057900" y="3196530"/>
            <a:ext cx="1219200" cy="182761"/>
          </a:xfrm>
          <a:prstGeom prst="roundRect">
            <a:avLst>
              <a:gd fmla="val 20847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6084570" y="3234630"/>
            <a:ext cx="1165860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Azure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7315200" y="3196530"/>
            <a:ext cx="1219200" cy="182761"/>
          </a:xfrm>
          <a:prstGeom prst="roundRect">
            <a:avLst>
              <a:gd fmla="val 20847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7341870" y="3234630"/>
            <a:ext cx="1165860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GCP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800600" y="3645991"/>
            <a:ext cx="3733800" cy="620911"/>
          </a:xfrm>
          <a:prstGeom prst="roundRect">
            <a:avLst>
              <a:gd fmla="val 9204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895850" y="3741241"/>
            <a:ext cx="361416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4895850" y="3931741"/>
            <a:ext cx="3614166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runner requests OIDC token, exchanges directly with cloud provider for short-lived credentials. No intermediate systems.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9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OPTION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476250" y="502890"/>
            <a:ext cx="418738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Hybrid Approach: Pros and Cons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476250" y="1592759"/>
            <a:ext cx="4000500" cy="2594223"/>
          </a:xfrm>
          <a:prstGeom prst="roundRect">
            <a:avLst>
              <a:gd fmla="val 2937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9"/>
          <p:cNvCxnSpPr/>
          <p:nvPr/>
        </p:nvCxnSpPr>
        <p:spPr>
          <a:xfrm>
            <a:off x="495300" y="1592759"/>
            <a:ext cx="0" cy="2594223"/>
          </a:xfrm>
          <a:prstGeom prst="straightConnector1">
            <a:avLst/>
          </a:prstGeom>
          <a:noFill/>
          <a:ln cap="flat" cmpd="sng" w="381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9"/>
          <p:cNvSpPr/>
          <p:nvPr/>
        </p:nvSpPr>
        <p:spPr>
          <a:xfrm>
            <a:off x="628650" y="1707059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28650" y="1962299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704850" y="2038499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Physical Isolation Preserved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704850" y="2223195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Dedicated agents per cloud - no shared infrastructure concerns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628650" y="2508945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704850" y="2585145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Existing IAM Unchanged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704850" y="2769840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Keep current EC2 roles, managed identities, service accounts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628650" y="3055590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704850" y="3131790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Minimal Migration Risk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704850" y="3316486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Jenkins agents and scripts remain unchanged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628650" y="3602236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704850" y="3678436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Familiar Operations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704850" y="3863132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Teams keep existing Jenkins troubleshooting skills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4667250" y="1592759"/>
            <a:ext cx="4000500" cy="2594223"/>
          </a:xfrm>
          <a:prstGeom prst="roundRect">
            <a:avLst>
              <a:gd fmla="val 2937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9"/>
          <p:cNvCxnSpPr/>
          <p:nvPr/>
        </p:nvCxnSpPr>
        <p:spPr>
          <a:xfrm>
            <a:off x="4686300" y="1592759"/>
            <a:ext cx="0" cy="2594223"/>
          </a:xfrm>
          <a:prstGeom prst="straightConnector1">
            <a:avLst/>
          </a:prstGeom>
          <a:noFill/>
          <a:ln cap="flat" cmpd="sng" w="3810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9"/>
          <p:cNvSpPr/>
          <p:nvPr/>
        </p:nvSpPr>
        <p:spPr>
          <a:xfrm>
            <a:off x="4819650" y="1707059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4819650" y="1962299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4895850" y="2038499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Increased Complexity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4895850" y="2223195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Two systems to maintain: GitHub runners + Jenkins agents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4819650" y="2508945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4895850" y="2585145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SSH/API Credentials Required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4895850" y="2769840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Must manage credentials for runner-to-agent connectivity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4819650" y="3055590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4895850" y="3131790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Double Infrastructure Cost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895850" y="3316486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Pay for GKE runners AND dedicated Jenkins agents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819650" y="3602236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4895850" y="3678436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Technical Debt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4895850" y="3863132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Maintains deprecated Jenkins while adding GitHub layer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OPTION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476250" y="502890"/>
            <a:ext cx="496462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Pure GitHub EMU + OIDC: Pros and Cons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476250" y="1592759"/>
            <a:ext cx="4000500" cy="2594223"/>
          </a:xfrm>
          <a:prstGeom prst="roundRect">
            <a:avLst>
              <a:gd fmla="val 2937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10"/>
          <p:cNvCxnSpPr/>
          <p:nvPr/>
        </p:nvCxnSpPr>
        <p:spPr>
          <a:xfrm>
            <a:off x="495300" y="1592759"/>
            <a:ext cx="0" cy="2594223"/>
          </a:xfrm>
          <a:prstGeom prst="straightConnector1">
            <a:avLst/>
          </a:prstGeom>
          <a:noFill/>
          <a:ln cap="flat" cmpd="sng" w="381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10"/>
          <p:cNvSpPr/>
          <p:nvPr/>
        </p:nvSpPr>
        <p:spPr>
          <a:xfrm>
            <a:off x="628650" y="1707059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628650" y="1962299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704850" y="2038499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Zero Long-Lived Credentials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704850" y="2223195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OIDC tokens expire in minutes - nothing to rotate or leak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628650" y="2508945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704850" y="2585145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Single Platform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704850" y="2769840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One system to manage, monitor, and troubleshoot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628650" y="3055590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704850" y="3131790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Dynamic Scaling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704850" y="3316486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Runners scale to zero when idle - pay only for usage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628650" y="3602236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704850" y="3678436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Standard Platform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704850" y="3863132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Aligned with org-wide GitHub EMU standardization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667250" y="1592759"/>
            <a:ext cx="4000500" cy="2594223"/>
          </a:xfrm>
          <a:prstGeom prst="roundRect">
            <a:avLst>
              <a:gd fmla="val 2937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10"/>
          <p:cNvCxnSpPr/>
          <p:nvPr/>
        </p:nvCxnSpPr>
        <p:spPr>
          <a:xfrm>
            <a:off x="4686300" y="1592759"/>
            <a:ext cx="0" cy="2594223"/>
          </a:xfrm>
          <a:prstGeom prst="straightConnector1">
            <a:avLst/>
          </a:prstGeom>
          <a:noFill/>
          <a:ln cap="flat" cmpd="sng" w="38100">
            <a:solidFill>
              <a:srgbClr val="C41E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10"/>
          <p:cNvSpPr/>
          <p:nvPr/>
        </p:nvSpPr>
        <p:spPr>
          <a:xfrm>
            <a:off x="4819650" y="1707059"/>
            <a:ext cx="380847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819650" y="1962299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895850" y="2038499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Shared Infrastructure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4895850" y="2223195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Physical segregation not possible - relies on OIDC for isolation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4819650" y="2508945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4895850" y="2585145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IAM Trust Policy Changes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895850" y="2769840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Requires updating all cloud IAM to trust GitHub OIDC provider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4819650" y="3055590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4895850" y="3131790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Migration Effort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895850" y="3316486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Rewrite workflows, update scripts, test all detective controls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4819650" y="3602236"/>
            <a:ext cx="3733800" cy="470446"/>
          </a:xfrm>
          <a:prstGeom prst="roundRect">
            <a:avLst>
              <a:gd fmla="val 12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4895850" y="3678436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New Operational Model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4895850" y="3863132"/>
            <a:ext cx="36530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Teams need to learn GitHub Actions patterns and debugging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476250" y="502890"/>
            <a:ext cx="418738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Decision Matrix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3548063" y="1417588"/>
            <a:ext cx="2521744" cy="470446"/>
          </a:xfrm>
          <a:prstGeom prst="roundRect">
            <a:avLst>
              <a:gd fmla="val 12148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11"/>
          <p:cNvCxnSpPr/>
          <p:nvPr/>
        </p:nvCxnSpPr>
        <p:spPr>
          <a:xfrm>
            <a:off x="3548063" y="1878509"/>
            <a:ext cx="2521744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11"/>
          <p:cNvSpPr/>
          <p:nvPr/>
        </p:nvSpPr>
        <p:spPr>
          <a:xfrm>
            <a:off x="3600569" y="1493788"/>
            <a:ext cx="241673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HYBRID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3600569" y="1659434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GitHub + Jenkins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6146006" y="1427113"/>
            <a:ext cx="2521744" cy="451396"/>
          </a:xfrm>
          <a:prstGeom prst="roundRect">
            <a:avLst>
              <a:gd fmla="val 12661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6198513" y="1503313"/>
            <a:ext cx="241673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6198513" y="1668959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EMU + OIDC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476250" y="1945184"/>
            <a:ext cx="2995613" cy="298996"/>
          </a:xfrm>
          <a:prstGeom prst="roundRect">
            <a:avLst>
              <a:gd fmla="val 12743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552450" y="2021384"/>
            <a:ext cx="290007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Infrastructure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548063" y="1951732"/>
            <a:ext cx="2521744" cy="28575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600569" y="2027932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Dedicated per cloud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6146006" y="1951732"/>
            <a:ext cx="2521744" cy="28575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6198513" y="2027932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Shared GKE pools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476250" y="2301329"/>
            <a:ext cx="2995613" cy="298996"/>
          </a:xfrm>
          <a:prstGeom prst="roundRect">
            <a:avLst>
              <a:gd fmla="val 12743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552450" y="2377529"/>
            <a:ext cx="290007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Isolation Model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3548063" y="2307878"/>
            <a:ext cx="2521744" cy="2857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3600569" y="2384078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6146006" y="2307878"/>
            <a:ext cx="2521744" cy="28575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6198513" y="2384078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Logical (OIDC)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476250" y="2657475"/>
            <a:ext cx="2995613" cy="298996"/>
          </a:xfrm>
          <a:prstGeom prst="roundRect">
            <a:avLst>
              <a:gd fmla="val 12743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552450" y="2733675"/>
            <a:ext cx="290007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Credentials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3548063" y="2664023"/>
            <a:ext cx="2521744" cy="28575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3600569" y="2740223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SSH keys + IAM roles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6146006" y="2664023"/>
            <a:ext cx="2521744" cy="2857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6198513" y="2740223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Short-lived OIDC only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476250" y="3013621"/>
            <a:ext cx="2995613" cy="298996"/>
          </a:xfrm>
          <a:prstGeom prst="roundRect">
            <a:avLst>
              <a:gd fmla="val 12743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552450" y="3089821"/>
            <a:ext cx="290007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Operational Cost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3548063" y="3020169"/>
            <a:ext cx="2521744" cy="28575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3600569" y="3096369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High (dual systems)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6146006" y="3020169"/>
            <a:ext cx="2521744" cy="2857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6198513" y="3096369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Low (single platform)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476250" y="3369766"/>
            <a:ext cx="2995613" cy="298996"/>
          </a:xfrm>
          <a:prstGeom prst="roundRect">
            <a:avLst>
              <a:gd fmla="val 12743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552450" y="3445966"/>
            <a:ext cx="290007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Migration Risk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3548063" y="3376315"/>
            <a:ext cx="2521744" cy="2857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3600569" y="3452515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6146006" y="3376315"/>
            <a:ext cx="2521744" cy="28575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6198513" y="3452515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476250" y="3725912"/>
            <a:ext cx="2995613" cy="298996"/>
          </a:xfrm>
          <a:prstGeom prst="roundRect">
            <a:avLst>
              <a:gd fmla="val 12743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552450" y="3802112"/>
            <a:ext cx="290007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Scaling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3548063" y="3732461"/>
            <a:ext cx="2521744" cy="28575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3600569" y="3808661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Manual / Static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6146006" y="3732461"/>
            <a:ext cx="2521744" cy="2857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6198513" y="3808661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Dynamic / Auto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476250" y="4082058"/>
            <a:ext cx="2995613" cy="298996"/>
          </a:xfrm>
          <a:prstGeom prst="roundRect">
            <a:avLst>
              <a:gd fmla="val 12743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552450" y="4158258"/>
            <a:ext cx="290007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Future Alignment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3548063" y="4088606"/>
            <a:ext cx="2521744" cy="28575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3600569" y="4164806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Technical debt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6146006" y="4088606"/>
            <a:ext cx="2521744" cy="2857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6198513" y="4164806"/>
            <a:ext cx="24167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Org standard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2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476250" y="502890"/>
            <a:ext cx="41873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Final Assessment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476250" y="1076325"/>
            <a:ext cx="4191000" cy="1784896"/>
          </a:xfrm>
          <a:prstGeom prst="roundRect">
            <a:avLst>
              <a:gd fmla="val 4269" name="adj"/>
            </a:avLst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9" name="Google Shape;499;p12"/>
          <p:cNvCxnSpPr/>
          <p:nvPr/>
        </p:nvCxnSpPr>
        <p:spPr>
          <a:xfrm>
            <a:off x="495300" y="1076325"/>
            <a:ext cx="0" cy="1784896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12"/>
          <p:cNvSpPr/>
          <p:nvPr/>
        </p:nvSpPr>
        <p:spPr>
          <a:xfrm>
            <a:off x="647700" y="1209675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 HYBRID IF: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647700" y="1432471"/>
            <a:ext cx="38862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Physical isolation is mandatory requirement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Cannot modify cloud IAM trust policies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Need to preserve existing Jenkins scripts as-is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Short-term bridge while planning full migration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476250" y="2975521"/>
            <a:ext cx="4191000" cy="1784896"/>
          </a:xfrm>
          <a:prstGeom prst="roundRect">
            <a:avLst>
              <a:gd fmla="val 4269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609600" y="3108871"/>
            <a:ext cx="400278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PURE GITHUB EMU + OIDC IF: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609600" y="3331666"/>
            <a:ext cx="39243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Aligning with organization GitHub EMU strategy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Want to eliminate long-lived credentials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Need dynamic scaling and cost optimization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Prefer single platform for operations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4895850" y="1611660"/>
            <a:ext cx="3771900" cy="1562100"/>
          </a:xfrm>
          <a:prstGeom prst="roundRect">
            <a:avLst>
              <a:gd fmla="val 4878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5013579" y="1764060"/>
            <a:ext cx="35364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C41E3A"/>
                </a:solidFill>
                <a:latin typeface="Arial"/>
                <a:ea typeface="Arial"/>
                <a:cs typeface="Arial"/>
                <a:sym typeface="Arial"/>
              </a:rPr>
              <a:t>RECOMMENDED APPROACH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5013579" y="1992660"/>
            <a:ext cx="353644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Pure GitHub EMU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5013579" y="2316510"/>
            <a:ext cx="353644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OIDC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5048250" y="2697510"/>
            <a:ext cx="3467100" cy="323850"/>
          </a:xfrm>
          <a:prstGeom prst="roundRect">
            <a:avLst>
              <a:gd fmla="val 1764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5110734" y="2792760"/>
            <a:ext cx="334213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Long-term strategic alignment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4895850" y="3288060"/>
            <a:ext cx="3771900" cy="937171"/>
          </a:xfrm>
          <a:prstGeom prst="roundRect">
            <a:avLst>
              <a:gd fmla="val 8131" name="adj"/>
            </a:avLst>
          </a:prstGeom>
          <a:solidFill>
            <a:srgbClr val="F8F8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5038725" y="3430935"/>
            <a:ext cx="3555873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Key Rationale: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5038725" y="3653730"/>
            <a:ext cx="355587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OIDC provides cryptographic isolation that is stronger than network-based physical isolation. Combined with reduced operational overhead and alignment with organizational standards, this delivers better security posture long-term.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2025-12-18T12:55:45Z</dcterms:created>
  <dc:creator>Security Architecture Team</dc:creator>
</cp:coreProperties>
</file>