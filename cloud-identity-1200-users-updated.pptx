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AtHGCUDlcM4zZ/NkLzjU1V3qd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421F60-25C4-4388-B34F-4D1F9EE15204}">
  <a:tblStyle styleId="{A9421F60-25C4-4388-B34F-4D1F9EE152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28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281028" y="1344960"/>
            <a:ext cx="65817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</a:rPr>
              <a:t>GCP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Identity </a:t>
            </a:r>
            <a:r>
              <a:rPr b="1" lang="en-US" sz="2700">
                <a:solidFill>
                  <a:srgbClr val="FFFFFF"/>
                </a:solidFill>
              </a:rPr>
              <a:t>Licenses</a:t>
            </a:r>
            <a:r>
              <a:rPr b="1" lang="en-US" sz="2700">
                <a:solidFill>
                  <a:srgbClr val="FFFFFF"/>
                </a:solidFill>
              </a:rPr>
              <a:t> cost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598691" y="1992660"/>
            <a:ext cx="394661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Identity Management &amp; Vertex AI Cost </a:t>
            </a:r>
            <a:r>
              <a:rPr lang="en-US" sz="1350">
                <a:solidFill>
                  <a:srgbClr val="FFFFFF"/>
                </a:solidFill>
              </a:rPr>
              <a:t>Study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427850" y="2689771"/>
            <a:ext cx="2288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Summary | December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356957" y="3600301"/>
            <a:ext cx="242993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prices converted to Canadian Dollars (CAD)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381000" y="1148209"/>
            <a:ext cx="4076700" cy="899517"/>
          </a:xfrm>
          <a:prstGeom prst="roundRect">
            <a:avLst>
              <a:gd fmla="val 8471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2"/>
          <p:cNvCxnSpPr/>
          <p:nvPr/>
        </p:nvCxnSpPr>
        <p:spPr>
          <a:xfrm>
            <a:off x="400050" y="1148209"/>
            <a:ext cx="0" cy="899517"/>
          </a:xfrm>
          <a:prstGeom prst="straightConnector1">
            <a:avLst/>
          </a:prstGeom>
          <a:noFill/>
          <a:ln cap="flat" cmpd="sng" w="381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609600" y="1190325"/>
            <a:ext cx="1875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PROPOSED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09600" y="1661226"/>
            <a:ext cx="3730800" cy="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5-10 Admins: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Cloud Identity Free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09600" y="1821201"/>
            <a:ext cx="37308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1200 Users: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Cloud Identity Premium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81000" y="2162026"/>
            <a:ext cx="4076700" cy="983307"/>
          </a:xfrm>
          <a:prstGeom prst="roundRect">
            <a:avLst>
              <a:gd fmla="val 7749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400050" y="2162026"/>
            <a:ext cx="0" cy="983307"/>
          </a:xfrm>
          <a:prstGeom prst="straightConnector1">
            <a:avLst/>
          </a:prstGeom>
          <a:noFill/>
          <a:ln cap="flat" cmpd="sng" w="381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609600" y="2314426"/>
            <a:ext cx="1875091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ANNUAL INVESTMENT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09600" y="2528143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$143,136 CAD/year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09600" y="2832943"/>
            <a:ext cx="37307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Cloud Identity Premium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81000" y="3259634"/>
            <a:ext cx="4076700" cy="899517"/>
          </a:xfrm>
          <a:prstGeom prst="roundRect">
            <a:avLst>
              <a:gd fmla="val 8471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400050" y="3259634"/>
            <a:ext cx="0" cy="899517"/>
          </a:xfrm>
          <a:prstGeom prst="straightConnector1">
            <a:avLst/>
          </a:prstGeom>
          <a:noFill/>
          <a:ln cap="flat" cmpd="sng" w="381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609600" y="3412034"/>
            <a:ext cx="1875091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OPTIONAL: VERTEX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9600" y="3625751"/>
            <a:ext cx="373075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Pay-as-you-go AI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09600" y="3835301"/>
            <a:ext cx="373075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Est. $828 - $3,312 CAD/month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686300" y="1190324"/>
            <a:ext cx="4076700" cy="1849800"/>
          </a:xfrm>
          <a:prstGeom prst="roundRect">
            <a:avLst>
              <a:gd fmla="val 4366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57725" y="1230681"/>
            <a:ext cx="191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57750" y="1661220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✓ Enterprise SSO across all 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57750" y="1878360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✓ Advanced endpoint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57750" y="2095500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✓ Context-aware access controls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57750" y="2312640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✓ Automated device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57750" y="2529780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✓ Security center &amp; threat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57750" y="2746921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✓ 24/7 support included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86300" y="3154561"/>
            <a:ext cx="4076700" cy="857548"/>
          </a:xfrm>
          <a:prstGeom prst="roundRect">
            <a:avLst>
              <a:gd fmla="val 8886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57750" y="3287911"/>
            <a:ext cx="1913954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EXCHANGE RATE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57750" y="3520678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1 USD = 1.38 CAD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57750" y="3718768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December 2025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1000" y="46787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Source: Google Cloud Identity Pricing | Exchange rate: Bank of Canada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Cloud Identity: Free vs Premium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81000" y="46787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Source: Google Cloud Identity Documentation (2025)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" name="Google Shape;61;p3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{A9421F60-25C4-4388-B34F-4D1F9EE15204}</a:tableStyleId>
              </a:tblPr>
              <a:tblGrid>
                <a:gridCol w="2743200"/>
                <a:gridCol w="2743200"/>
                <a:gridCol w="27432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Identity Free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Identity Premium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 (CAD)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$9.94/user/month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Limit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 to 50 users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Unlimited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Sign-On (SSO)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Basic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Advanced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Multi-Factor Auth (MFA)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Context-Aware Access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Advanced Endpoint Mgmt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Center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Automated Provisioning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24/7 Support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36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F63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Only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Phone, Email, Chat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381000" y="714524"/>
            <a:ext cx="498405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Cloud Identity Premium: Cost Breakdown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000" y="1324124"/>
            <a:ext cx="1943100" cy="1074241"/>
          </a:xfrm>
          <a:prstGeom prst="roundRect">
            <a:avLst>
              <a:gd fmla="val 7093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17017" y="1476524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ADMINS (FREE)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17017" y="1674614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7017" y="208597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5-10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14600" y="1305074"/>
            <a:ext cx="1981200" cy="1112341"/>
          </a:xfrm>
          <a:prstGeom prst="roundRect">
            <a:avLst>
              <a:gd fmla="val 6850" name="adj"/>
            </a:avLst>
          </a:prstGeom>
          <a:solidFill>
            <a:srgbClr val="FFEBEE"/>
          </a:solidFill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669667" y="1476524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PREMIUM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669667" y="1674614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$9.94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669667" y="208597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CAD/user/month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686300" y="1324124"/>
            <a:ext cx="1943100" cy="1074241"/>
          </a:xfrm>
          <a:prstGeom prst="roundRect">
            <a:avLst>
              <a:gd fmla="val 7093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822325" y="1388875"/>
            <a:ext cx="1807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1200 USERS MONTHLY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822317" y="1674614"/>
            <a:ext cx="16710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$11,928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22317" y="2085975"/>
            <a:ext cx="1671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CAD/month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819900" y="1324124"/>
            <a:ext cx="1943100" cy="1074241"/>
          </a:xfrm>
          <a:prstGeom prst="roundRect">
            <a:avLst>
              <a:gd fmla="val 7093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55917" y="1476524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ANNUAL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955917" y="1674614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$143,136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955917" y="208597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CAD/year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81000" y="2760315"/>
            <a:ext cx="8382000" cy="38859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400050" y="2760315"/>
            <a:ext cx="0" cy="388590"/>
          </a:xfrm>
          <a:prstGeom prst="straightConnector1">
            <a:avLst/>
          </a:prstGeom>
          <a:noFill/>
          <a:ln cap="flat" cmpd="sng" w="38100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571500" y="2874615"/>
            <a:ext cx="81998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Calculation: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$7.20 USD × 1.38 = $9.94 CAD per user/month × 1200 users = $11,928 CAD/month × 12 = $143,136 CAD/year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81000" y="3453705"/>
            <a:ext cx="4114800" cy="548580"/>
          </a:xfrm>
          <a:prstGeom prst="roundRect">
            <a:avLst>
              <a:gd fmla="val 10418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95300" y="3568005"/>
            <a:ext cx="396392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Flexible Plan: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Pay monthly, adjust users anytime. Best for variable workforce.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648200" y="3533626"/>
            <a:ext cx="4114800" cy="388590"/>
          </a:xfrm>
          <a:prstGeom prst="roundRect">
            <a:avLst>
              <a:gd fmla="val 1470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762500" y="3647926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Annual Plan: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Commit for 1 year. Potential volume discounts available.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81000" y="4268986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Exchange rate: 1 USD = 1.38 CAD (December 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Cloud Identity Premium Features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81000" y="1039713"/>
            <a:ext cx="4114800" cy="800398"/>
          </a:xfrm>
          <a:prstGeom prst="roundRect">
            <a:avLst>
              <a:gd fmla="val 952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14350" y="1173063"/>
            <a:ext cx="1972247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Single Sign-On (SSO)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14350" y="1386780"/>
            <a:ext cx="3925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Access 1000+ pre-integrated apps with one login. Supports SAML, OIDC, and password vaulting.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81000" y="1954411"/>
            <a:ext cx="4114800" cy="800398"/>
          </a:xfrm>
          <a:prstGeom prst="roundRect">
            <a:avLst>
              <a:gd fmla="val 952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14350" y="2087761"/>
            <a:ext cx="1972247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Context-Aware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14350" y="2301478"/>
            <a:ext cx="3925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Granular access policies based on user identity, location, device security status, and IP address.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81000" y="2869109"/>
            <a:ext cx="4114800" cy="800398"/>
          </a:xfrm>
          <a:prstGeom prst="roundRect">
            <a:avLst>
              <a:gd fmla="val 952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14350" y="2892325"/>
            <a:ext cx="1972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Multi-Factor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14350" y="3216176"/>
            <a:ext cx="3925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Push notifications, Google Authenticator, Titan Security Keys, and phone-as-security-key.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648200" y="1039713"/>
            <a:ext cx="4114800" cy="800398"/>
          </a:xfrm>
          <a:prstGeom prst="roundRect">
            <a:avLst>
              <a:gd fmla="val 952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781550" y="1173063"/>
            <a:ext cx="2001393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Advanced Endpoint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81550" y="1535991"/>
            <a:ext cx="39252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Manage Android, iOS, and Windows devices. Remote wipe, security policies, and app management.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648200" y="1954411"/>
            <a:ext cx="4114800" cy="800398"/>
          </a:xfrm>
          <a:prstGeom prst="roundRect">
            <a:avLst>
              <a:gd fmla="val 952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81550" y="2087761"/>
            <a:ext cx="1972247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Automated User Provisioning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781550" y="2445028"/>
            <a:ext cx="39252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Sync with Active Directory, LDAP, and HR systems. Auto-provision and de-provision users.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648200" y="2869109"/>
            <a:ext cx="4114800" cy="800398"/>
          </a:xfrm>
          <a:prstGeom prst="roundRect">
            <a:avLst>
              <a:gd fmla="val 952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81550" y="3002459"/>
            <a:ext cx="1972247" cy="137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5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Security Center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81550" y="3216176"/>
            <a:ext cx="3925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Threat detection, security analytics, audit logs, and compliance reporting dashboard.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81000" y="4080570"/>
            <a:ext cx="8382000" cy="350490"/>
          </a:xfrm>
          <a:prstGeom prst="roundRect">
            <a:avLst>
              <a:gd fmla="val 16306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2628" y="4175820"/>
            <a:ext cx="82387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Included: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24/7 Email, Phone &amp; Chat Support | 99.9% SLA | BeyondCorp Zero Trust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81000" y="46787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Source: Google Cloud Identity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381000" y="774204"/>
            <a:ext cx="49160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Vertex AI Gemini: Pay-As-You-Go Pricing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81000" y="1383804"/>
            <a:ext cx="2679650" cy="1045071"/>
          </a:xfrm>
          <a:prstGeom prst="roundRect">
            <a:avLst>
              <a:gd fmla="val 729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14350" y="1396447"/>
            <a:ext cx="1233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GEMINI 2.5 FLASH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14350" y="1720304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$0.21 CAD /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14350" y="1918395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$0.83 CAD /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14350" y="2135535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Best for: High volume, cost-efficient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213050" y="1364754"/>
            <a:ext cx="2717750" cy="1083171"/>
          </a:xfrm>
          <a:prstGeom prst="roundRect">
            <a:avLst>
              <a:gd fmla="val 7035" name="adj"/>
            </a:avLst>
          </a:prstGeom>
          <a:solidFill>
            <a:srgbClr val="F5F5F5"/>
          </a:solidFill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365450" y="1396296"/>
            <a:ext cx="1233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GEMINI 2.5 PRO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365450" y="1720304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$1.73 CAD /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365450" y="1918395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$13.80 CAD /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365450" y="2135535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Best for: Complex reasoning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083201" y="1383804"/>
            <a:ext cx="2679650" cy="1045071"/>
          </a:xfrm>
          <a:prstGeom prst="roundRect">
            <a:avLst>
              <a:gd fmla="val 729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16550" y="1396447"/>
            <a:ext cx="1233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GEMINI 3 PRO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16551" y="1720304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$2.76 CAD /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16551" y="1918395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$16.56 CAD /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16551" y="2135535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Best for: Advanced multimodal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81000" y="2752725"/>
            <a:ext cx="8382000" cy="591741"/>
          </a:xfrm>
          <a:prstGeom prst="roundRect">
            <a:avLst>
              <a:gd fmla="val 9658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33400" y="2867025"/>
            <a:ext cx="4129088" cy="126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WHAT IS A TOKEN?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33400" y="3070175"/>
            <a:ext cx="82387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1 token ≈ 4 characters or ¾ of an English word. A typical query uses ~500 input tokens + ~1,000 output tokens.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81000" y="3611166"/>
            <a:ext cx="8382000" cy="35049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400050" y="3611166"/>
            <a:ext cx="0" cy="350490"/>
          </a:xfrm>
          <a:prstGeom prst="straightConnector1">
            <a:avLst/>
          </a:prstGeom>
          <a:noFill/>
          <a:ln cap="flat" cmpd="sng" w="38100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6"/>
          <p:cNvSpPr/>
          <p:nvPr/>
        </p:nvSpPr>
        <p:spPr>
          <a:xfrm>
            <a:off x="571500" y="3706416"/>
            <a:ext cx="81998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Free Tier: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New accounts get $414 CAD ($300 USD) in credits valid for 90 days. Preview models often have reduced/waived billing.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81000" y="4209306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Source: Google Vertex AI Pricing (December 2025) | Prices converted at 1 USD = 1.38 CAD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381000" y="590699"/>
            <a:ext cx="474116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Vertex AI: Estimated Cost for 1200 Users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81000" y="1181249"/>
            <a:ext cx="8382000" cy="388590"/>
          </a:xfrm>
          <a:prstGeom prst="roundRect">
            <a:avLst>
              <a:gd fmla="val 14707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33400" y="1295549"/>
            <a:ext cx="82387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Assumptions: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Using Gemini 2.5 Flash model | Average query: 500 input + 1,000 output tokens | Cost per query ≈ $0.0011 CAD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81000" y="1893689"/>
            <a:ext cx="2679650" cy="1417141"/>
          </a:xfrm>
          <a:prstGeom prst="roundRect">
            <a:avLst>
              <a:gd fmla="val 537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90220" y="2027039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LIGHT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90220" y="2225129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5 queries/user/day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90220" y="2461320"/>
            <a:ext cx="246120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$828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90220" y="2819400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CAD/month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90220" y="3017490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132,000 queries/month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13050" y="1874639"/>
            <a:ext cx="2717750" cy="1455241"/>
          </a:xfrm>
          <a:prstGeom prst="roundRect">
            <a:avLst>
              <a:gd fmla="val 5236" name="adj"/>
            </a:avLst>
          </a:prstGeom>
          <a:solidFill>
            <a:srgbClr val="F5F5F5"/>
          </a:solidFill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341321" y="2027039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MODERATE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341321" y="2225129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10 queries/user/day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341321" y="2461320"/>
            <a:ext cx="246120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$1,656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341321" y="2819400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CAD/month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41321" y="3017490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264,000 queries/month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083201" y="1893689"/>
            <a:ext cx="2679650" cy="1417141"/>
          </a:xfrm>
          <a:prstGeom prst="roundRect">
            <a:avLst>
              <a:gd fmla="val 537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192421" y="2027039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HEAVY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192421" y="2225129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20 queries/user/day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192421" y="2461320"/>
            <a:ext cx="246120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$3,312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192421" y="2819400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CAD/month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192421" y="3017490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528,000 queries/month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81000" y="3634680"/>
            <a:ext cx="4114800" cy="510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400050" y="3634680"/>
            <a:ext cx="0" cy="510480"/>
          </a:xfrm>
          <a:prstGeom prst="straightConnector1">
            <a:avLst/>
          </a:prstGeom>
          <a:noFill/>
          <a:ln cap="flat" cmpd="sng" w="38100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7"/>
          <p:cNvSpPr/>
          <p:nvPr/>
        </p:nvSpPr>
        <p:spPr>
          <a:xfrm>
            <a:off x="552450" y="3729930"/>
            <a:ext cx="3886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Using Gemini 2.5 Pro would be ~10x higher. Actual costs vary by query complexity.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648200" y="3634680"/>
            <a:ext cx="4114800" cy="510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/>
          <p:nvPr/>
        </p:nvCxnSpPr>
        <p:spPr>
          <a:xfrm>
            <a:off x="4667250" y="3634680"/>
            <a:ext cx="0" cy="510480"/>
          </a:xfrm>
          <a:prstGeom prst="straightConnector1">
            <a:avLst/>
          </a:prstGeom>
          <a:noFill/>
          <a:ln cap="flat" cmpd="sng" w="381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7"/>
          <p:cNvSpPr/>
          <p:nvPr/>
        </p:nvSpPr>
        <p:spPr>
          <a:xfrm>
            <a:off x="4819650" y="3729930"/>
            <a:ext cx="3886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Pay only for what you use. No per-seat licensing. Scale up or down instantly.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81000" y="4392811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Estimates based on 22 working days/month | Prices in CAD (1 USD = 1.38 CAD)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Total Annual Investment Summary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81000" y="4042470"/>
            <a:ext cx="8382000" cy="388590"/>
          </a:xfrm>
          <a:prstGeom prst="roundRect">
            <a:avLst>
              <a:gd fmla="val 14707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2628" y="4156770"/>
            <a:ext cx="82387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Recommendation:</a:t>
            </a:r>
            <a:r>
              <a:rPr b="0" i="0" lang="en-U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Start with Cloud Identity Premium for SSO. Add Vertex AI based on actual usage needs.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81000" y="46787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All prices in CAD | Exchange rate: 1 USD = 1.38 CAD (December 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8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{A9421F60-25C4-4388-B34F-4D1F9EE15204}</a:tableStyleId>
              </a:tblPr>
              <a:tblGrid>
                <a:gridCol w="3200400"/>
                <a:gridCol w="1371600"/>
                <a:gridCol w="1828800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(CAD)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Annual (CAD)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Identity Free (Admins)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5-10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Identity Premium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$11,928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$143,136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Vertex AI (Light Usage)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$9,936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Vertex AI (Moderate Usage)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$1,656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$19,872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Vertex AI (Heavy Usage)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$3,312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$39,744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(Identity Only)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1205-1210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$11,928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$143,136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(Identity + AI Moderate)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1205-1210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$13,584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6282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$163,008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2025-12-10T21:50:10Z</dcterms:created>
  <dc:creator>Executive Presentation</dc:creator>
</cp:coreProperties>
</file>